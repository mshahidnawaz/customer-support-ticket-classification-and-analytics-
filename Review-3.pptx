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6" r:id="rId9"/>
    <p:sldId id="262" r:id="rId10"/>
    <p:sldId id="263" r:id="rId11"/>
    <p:sldId id="264" r:id="rId12"/>
    <p:sldId id="265" r:id="rId13"/>
  </p:sldIdLst>
  <p:sldSz cx="12192000" cy="6858000"/>
  <p:notesSz cx="7102475" cy="9037638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2"/>
  </p:normalViewPr>
  <p:slideViewPr>
    <p:cSldViewPr snapToGrid="0">
      <p:cViewPr varScale="1">
        <p:scale>
          <a:sx n="104" d="100"/>
          <a:sy n="104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D4DF-21A2-8343-9008-710997EFE372}" type="datetime1">
              <a:rPr lang="en-IN" smtClean="0"/>
              <a:t>22/04/26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22/04/26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73D6-3CEE-8F48-B559-8A1AAA479881}" type="datetime1">
              <a:rPr lang="en-IN" smtClean="0"/>
              <a:t>22/04/26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8AD-5BCA-FB4D-BB92-A9506EB125DE}" type="datetime1">
              <a:rPr lang="en-IN" smtClean="0"/>
              <a:t>22/04/26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14E3-1A4B-E147-9C43-AF22F573C146}" type="datetime1">
              <a:rPr lang="en-IN" smtClean="0"/>
              <a:t>22/04/26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22/04/26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  <a:t>22/04/26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B05C-DA09-D54E-BE90-A914E23C1D37}" type="datetime1">
              <a:rPr lang="en-IN" smtClean="0"/>
              <a:t>22/04/26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264A-0DD4-554E-9BAF-72F2B974B4C3}" type="datetime1">
              <a:rPr lang="en-IN" smtClean="0"/>
              <a:t>22/04/26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DC3-8E95-594C-90F9-D4BFD51367E6}" type="datetime1">
              <a:rPr lang="en-IN" smtClean="0"/>
              <a:t>22/04/26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C79A-A4F9-4646-8C8F-7091881D2F89}" type="datetime1">
              <a:rPr lang="en-IN" smtClean="0"/>
              <a:t>22/04/26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1655-6176-8843-98F6-F743980649D1}" type="datetime1">
              <a:rPr lang="en-IN" smtClean="0"/>
              <a:t>22/04/26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D11-2585-D24D-93CA-1B3685649544}" type="datetime1">
              <a:rPr lang="en-IN" smtClean="0"/>
              <a:t>22/04/26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ACA4-A1C6-9F4F-978A-D3AE7141A61E}" type="datetime1">
              <a:rPr lang="en-IN" smtClean="0"/>
              <a:t>22/04/26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10E6-0672-C24B-8BA7-69AD3847874C}" type="datetime1">
              <a:rPr lang="en-IN" smtClean="0"/>
              <a:t>22/04/26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0737-B6DD-A042-B94C-464B3C8698F2}" type="datetime1">
              <a:rPr lang="en-IN" smtClean="0"/>
              <a:t>22/04/26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E405-5A0A-8F4C-9EC6-8C8112FD4D9F}" type="datetime1">
              <a:rPr lang="en-IN" smtClean="0"/>
              <a:t>22/04/26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A86FA-D70B-B047-9EE8-E3556A998703}" type="datetime1">
              <a:rPr lang="en-IN" smtClean="0"/>
              <a:t>22/04/26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cloud.google.com/speech-to-tex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.mysql.com/doc" TargetMode="External"/><Relationship Id="rId5" Type="http://schemas.openxmlformats.org/officeDocument/2006/relationships/hyperlink" Target="https://github.com/" TargetMode="External"/><Relationship Id="rId4" Type="http://schemas.openxmlformats.org/officeDocument/2006/relationships/hyperlink" Target="https://www.w3schools.com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390" y="300355"/>
            <a:ext cx="10515600" cy="112839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da-DK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Systems for Visual Intelligence</a:t>
            </a:r>
            <a:br>
              <a:rPr lang="da-D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Greivace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Portal</a:t>
            </a: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1418" y="1737503"/>
            <a:ext cx="10515600" cy="109755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2320030424 – Allam Subhash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2320030228 – Shahid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2320030339 –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Shaikshavali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2320030125 - Asif</a:t>
            </a:r>
          </a:p>
          <a:p>
            <a:pPr marL="0" indent="0" algn="ctr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23A7-D8E7-1742-AE5C-E3C19725FB52}" type="datetime1">
              <a:rPr lang="en-IN" smtClean="0"/>
              <a:t>22/04/26</a:t>
            </a:fld>
            <a:endParaRPr lang="en-US"/>
          </a:p>
        </p:txBody>
      </p:sp>
      <p:sp>
        <p:nvSpPr>
          <p:cNvPr id="9" name="Content Placeholder 3"/>
          <p:cNvSpPr txBox="1"/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312" y="4834502"/>
            <a:ext cx="2175809" cy="10326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22/04/26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2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22/04/26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246225C-C486-FED1-DA4D-888BE9F6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C59DF7A-687F-2B34-7C6F-40CBB9DA6D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0066" y="1283768"/>
            <a:ext cx="1902612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digital era, efficient grievance redressal systems are essential for improving communication between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citizens and authorities.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grievance systems are often slow, lack transparency, and do not provide proper tracking of complaints.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Smart Grievance Portal is designed to address these issues by providing a modern, technology-driven solution with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like voice-to-text input, image uploads, and real-time notifications.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Being Solved: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Delays in complaint resolution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updates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submitting complaints for non-technical users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accountability and tracking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Government and municipal services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University complaint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Corporate customer support platforms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service management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F4ED40-408F-6A27-E4F0-6FCB8E7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46B85-3126-D2FB-6BBE-D431774E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7DCC41-9625-D8BE-ED8E-A41DE68A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2876"/>
            <a:ext cx="10515600" cy="5647038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Grievance Portal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simplifies complaint registration and management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voice-to-text conversion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easy complaint submission by all users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upload functionality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providing proof and better issue understanding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dashboard updates for complaint status tracking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transparency, efficiency, and response time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grievance handling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and accessible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both citizens and administrators 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B615F-134B-83C4-E306-B5062B7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22/04/26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8078-A2DB-3337-E1DB-4073478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5B6A2-90DB-9DF8-4F42-DFC3BA3D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B56FACB-3BE6-7710-5AF6-30246594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4008404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79BD2-A51A-9AA0-A461-44D35227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22/04/26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07D7A9-8878-6941-85F0-B9C44D648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951777"/>
              </p:ext>
            </p:extLst>
          </p:nvPr>
        </p:nvGraphicFramePr>
        <p:xfrm>
          <a:off x="469557" y="1382329"/>
          <a:ext cx="11553565" cy="4920508"/>
        </p:xfrm>
        <a:graphic>
          <a:graphicData uri="http://schemas.openxmlformats.org/drawingml/2006/table">
            <a:tbl>
              <a:tblPr/>
              <a:tblGrid>
                <a:gridCol w="732817">
                  <a:extLst>
                    <a:ext uri="{9D8B030D-6E8A-4147-A177-3AD203B41FA5}">
                      <a16:colId xmlns:a16="http://schemas.microsoft.com/office/drawing/2014/main" val="2320967467"/>
                    </a:ext>
                  </a:extLst>
                </a:gridCol>
                <a:gridCol w="732817">
                  <a:extLst>
                    <a:ext uri="{9D8B030D-6E8A-4147-A177-3AD203B41FA5}">
                      <a16:colId xmlns:a16="http://schemas.microsoft.com/office/drawing/2014/main" val="1773147566"/>
                    </a:ext>
                  </a:extLst>
                </a:gridCol>
                <a:gridCol w="1091430">
                  <a:extLst>
                    <a:ext uri="{9D8B030D-6E8A-4147-A177-3AD203B41FA5}">
                      <a16:colId xmlns:a16="http://schemas.microsoft.com/office/drawing/2014/main" val="3614679244"/>
                    </a:ext>
                  </a:extLst>
                </a:gridCol>
                <a:gridCol w="982286">
                  <a:extLst>
                    <a:ext uri="{9D8B030D-6E8A-4147-A177-3AD203B41FA5}">
                      <a16:colId xmlns:a16="http://schemas.microsoft.com/office/drawing/2014/main" val="1867444956"/>
                    </a:ext>
                  </a:extLst>
                </a:gridCol>
                <a:gridCol w="608083">
                  <a:extLst>
                    <a:ext uri="{9D8B030D-6E8A-4147-A177-3AD203B41FA5}">
                      <a16:colId xmlns:a16="http://schemas.microsoft.com/office/drawing/2014/main" val="2466615718"/>
                    </a:ext>
                  </a:extLst>
                </a:gridCol>
                <a:gridCol w="732817">
                  <a:extLst>
                    <a:ext uri="{9D8B030D-6E8A-4147-A177-3AD203B41FA5}">
                      <a16:colId xmlns:a16="http://schemas.microsoft.com/office/drawing/2014/main" val="3131005202"/>
                    </a:ext>
                  </a:extLst>
                </a:gridCol>
                <a:gridCol w="966695">
                  <a:extLst>
                    <a:ext uri="{9D8B030D-6E8A-4147-A177-3AD203B41FA5}">
                      <a16:colId xmlns:a16="http://schemas.microsoft.com/office/drawing/2014/main" val="2820496137"/>
                    </a:ext>
                  </a:extLst>
                </a:gridCol>
                <a:gridCol w="732817">
                  <a:extLst>
                    <a:ext uri="{9D8B030D-6E8A-4147-A177-3AD203B41FA5}">
                      <a16:colId xmlns:a16="http://schemas.microsoft.com/office/drawing/2014/main" val="3963344226"/>
                    </a:ext>
                  </a:extLst>
                </a:gridCol>
                <a:gridCol w="1091430">
                  <a:extLst>
                    <a:ext uri="{9D8B030D-6E8A-4147-A177-3AD203B41FA5}">
                      <a16:colId xmlns:a16="http://schemas.microsoft.com/office/drawing/2014/main" val="824182350"/>
                    </a:ext>
                  </a:extLst>
                </a:gridCol>
                <a:gridCol w="1294125">
                  <a:extLst>
                    <a:ext uri="{9D8B030D-6E8A-4147-A177-3AD203B41FA5}">
                      <a16:colId xmlns:a16="http://schemas.microsoft.com/office/drawing/2014/main" val="523834847"/>
                    </a:ext>
                  </a:extLst>
                </a:gridCol>
                <a:gridCol w="1247348">
                  <a:extLst>
                    <a:ext uri="{9D8B030D-6E8A-4147-A177-3AD203B41FA5}">
                      <a16:colId xmlns:a16="http://schemas.microsoft.com/office/drawing/2014/main" val="1021730221"/>
                    </a:ext>
                  </a:extLst>
                </a:gridCol>
                <a:gridCol w="1340900">
                  <a:extLst>
                    <a:ext uri="{9D8B030D-6E8A-4147-A177-3AD203B41FA5}">
                      <a16:colId xmlns:a16="http://schemas.microsoft.com/office/drawing/2014/main" val="44805945"/>
                    </a:ext>
                  </a:extLst>
                </a:gridCol>
              </a:tblGrid>
              <a:tr h="81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 No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Year( from 2020 onwards papers)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Source(Journal/Conference name)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Objectve of the paper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Used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Used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 Analysed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Inference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 of the paper 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844040"/>
                  </a:ext>
                </a:extLst>
              </a:tr>
              <a:tr h="20521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N. V. Kamble et al.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CitizenConnect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Real-Time Grievance Management App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IARJSET Journal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real-time complaint handling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+ Mobile Application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complaint data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 time, user satisfaction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resolution and better transparency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AI automation, limited scalability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10.17148/IARJSET.2024.11213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022503"/>
                  </a:ext>
                </a:extLst>
              </a:tr>
              <a:tr h="20521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Karthikeyan et al.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Fix-It: Public Complaint Management System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ICCoSITE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Conference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 complaint tracking and reporting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 App, GPS tracking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complaint dataset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Accuracy, efficiency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tracking and accessibility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voice input, no multimedia support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10.1109/ICCoSITE57641.2023.10127715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855832"/>
                  </a:ext>
                </a:extLst>
              </a:tr>
            </a:tbl>
          </a:graphicData>
        </a:graphic>
      </p:graphicFrame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AEA843F7-8A62-A540-2018-E141BD34A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54B581-3E21-4B4E-2A35-F67D3096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48C83F0-76BD-4B96-85D5-C1FAD735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.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52B6941-B56F-78EF-6572-0086C4B2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4C048-DC99-8545-9D85-18D18CC6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22/04/26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645B-E9B2-A17C-A19D-59B4792D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7B1205-708D-AB89-EA58-78AFC93D2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201DB43-9F00-00F7-5CD5-CA9274B8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37C5DF-7496-AC52-1E9C-808F1DA61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90" y="604346"/>
            <a:ext cx="11677134" cy="564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40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3FB95-0BE4-EE1C-8647-1E6EE6BB9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/ Algorithm Idea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3E724-46B8-4533-18B1-D0E870729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6249"/>
            <a:ext cx="10515600" cy="4990714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Acquisition: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complaint through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text, voice, or image upload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Processing: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speech to text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to extract important keywords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Categorization: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complaint into categories (e.g., water, roads, electricity)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Assignment: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priority level 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/ Medium / Low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based on urgency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complaint details in the database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Engine: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updates for submission, status change, and resolution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7DE51-BBA7-887D-B001-C5BE5E260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22/04/26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A5DCF-82CC-CEE6-DE1E-D5FEB7EDE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72F2F-BE13-F2CB-ACB7-41F9178F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5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148468-70F0-62F4-D77B-031E25FC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/ Software Used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 / React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(Flask/Django) or Java (Spring Boot)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/ MongoDB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Speech-to-Text API (for voice conversion)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Code, GitHub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Selection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User-generated complaint data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 include: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details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description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&amp; priority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uploads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(Pending / In Progress / Resolved)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22/04/26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3B7B457D-38E8-2C64-57F5-E01DF176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3350041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93719B-A971-677D-DB3E-3F30ECAA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09CC97-A85F-7FE9-127B-D9A3D433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914A49-19F6-51A2-7E86-293A5277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Grievance Portal is a modern solution that improves complaint management by adding features like voice-to-text, image uploads, and real-time notifications. It makes the system more accessible, transparent, and efficient for users.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simplifies complaint submission, provides continuous updates, and ensures accountability between users and authorities. It also reduces manual work through automation and enables faster decision-making using organized data.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enhances user satisfaction and governance, with future scope for AI integration and mobile support to make it more advanced and scalable.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60C3-9089-9B01-F1D8-C97A09A9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22/04/26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082E4-0E3A-87DB-D567-ED1D0DB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4F053-0075-BD19-F8FF-9AAA1B64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187A4474-F3F0-CAB1-93F1-9BF4015F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716463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4C0B0-C70A-1972-492E-60B0E754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E10373E-14B1-432C-6627-5102E701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0347CC-6603-A42B-AFAE-07AE7DD4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Kumar et al., “Online Grievance Redressal System,”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Reddy et al., “Smart Complaint Management System,”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Cloud,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API Documentation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https://cloud.google.com/speech-to-text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MDN Web Docs –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https://developer.mozilla.org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W3Schools – Web Development Tutorials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https://www.w3schools.com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– Project Repositories and Code References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https://github.com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Documentation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https://dev.mysql.com/doc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F12D2-F1DB-33DA-F2D4-36035A1E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22/04/26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93559-19B2-50D7-BD0E-0D82C2AD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19C462-DC64-15A1-C950-8DE0A02020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92543A9-D42E-FC1A-73CD-75569187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2116982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9514-8A25-AD4E-B103-05AD99471A79}" type="datetime1">
              <a:rPr lang="en-IN" smtClean="0"/>
              <a:t>22/04/26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B03FB2E-4E33-CA9A-E5FC-A215D8D2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804</Words>
  <Application>Microsoft Macintosh PowerPoint</Application>
  <PresentationFormat>Widescreen</PresentationFormat>
  <Paragraphs>156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Custom Design</vt:lpstr>
      <vt:lpstr>AI Systems for Visual Intelligence  Smart Greivace Portal</vt:lpstr>
      <vt:lpstr>OUTLINE</vt:lpstr>
      <vt:lpstr>Introduction</vt:lpstr>
      <vt:lpstr>Objectives </vt:lpstr>
      <vt:lpstr>Literature Survey</vt:lpstr>
      <vt:lpstr>  .</vt:lpstr>
      <vt:lpstr>Model / Algorithm Idea </vt:lpstr>
      <vt:lpstr>Implementation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ALLAM SUBHASH CHOWDARY .</cp:lastModifiedBy>
  <cp:revision>7</cp:revision>
  <dcterms:modified xsi:type="dcterms:W3CDTF">2026-04-22T13:47:43Z</dcterms:modified>
</cp:coreProperties>
</file>